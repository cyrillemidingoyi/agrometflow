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61" r:id="rId7"/>
    <p:sldId id="262" r:id="rId8"/>
    <p:sldId id="263" r:id="rId9"/>
    <p:sldId id="266" r:id="rId10"/>
    <p:sldId id="264" r:id="rId11"/>
    <p:sldId id="265" r:id="rId12"/>
    <p:sldId id="268" r:id="rId13"/>
    <p:sldId id="290" r:id="rId14"/>
    <p:sldId id="292" r:id="rId15"/>
    <p:sldId id="291" r:id="rId16"/>
    <p:sldId id="293" r:id="rId17"/>
    <p:sldId id="295" r:id="rId18"/>
    <p:sldId id="296" r:id="rId19"/>
    <p:sldId id="297" r:id="rId20"/>
    <p:sldId id="298" r:id="rId21"/>
    <p:sldId id="299" r:id="rId22"/>
    <p:sldId id="260" r:id="rId23"/>
    <p:sldId id="258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85884" autoAdjust="0"/>
  </p:normalViewPr>
  <p:slideViewPr>
    <p:cSldViewPr snapToGrid="0">
      <p:cViewPr varScale="1">
        <p:scale>
          <a:sx n="83" d="100"/>
          <a:sy n="83" d="100"/>
        </p:scale>
        <p:origin x="55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4CC6A-CEB4-41E0-A3E5-79E37EF81F0D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8CFD8-6B23-4134-95F8-908AFEDBE1C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388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Un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scénario climatique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 n’est pas une prévision. C’est une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hypothèse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. Il décrit différents chemins possibles que pourrait prendre notre société. Chaque scénario fixe des valeurs pour des paramètres importants – comme les émissions de gaz à effet de serre – en fonction de divers choix économiques, technologiques, politiques et sociaux.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8CFD8-6B23-4134-95F8-908AFEDBE1C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8970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Un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scénario climatique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 n’est pas une prévision. C’est une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hypothèse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. Il décrit différents chemins possibles que pourrait prendre notre société. Chaque scénario fixe des valeurs pour des paramètres importants – comme les émissions de gaz à effet de serre – en fonction de divers choix économiques, technologiques, politiques et sociaux.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8CFD8-6B23-4134-95F8-908AFEDBE1C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538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Un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scénario climatique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 n’est pas une prévision. C’est une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hypothèse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. Il décrit différents chemins possibles que pourrait prendre notre société. Chaque scénario fixe des valeurs pour des paramètres importants – comme les émissions de gaz à effet de serre – en fonction de divers choix économiques, technologiques, politiques et sociaux.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8CFD8-6B23-4134-95F8-908AFEDBE1C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585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Un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scénario climatique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 n’est pas une prévision. C’est une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hypothèse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. Il décrit différents chemins possibles que pourrait prendre notre société. Chaque scénario fixe des valeurs pour des paramètres importants – comme les émissions de gaz à effet de serre – en fonction de divers choix économiques, technologiques, politiques et sociaux.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8CFD8-6B23-4134-95F8-908AFEDBE1C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4978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Un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scénario climatique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 n’est pas une prévision. C’est une </a:t>
            </a:r>
            <a:r>
              <a:rPr lang="fr-FR" b="1" i="0" dirty="0">
                <a:solidFill>
                  <a:srgbClr val="313C45"/>
                </a:solidFill>
                <a:effectLst/>
                <a:latin typeface="Helvetica Neue"/>
              </a:rPr>
              <a:t>hypothèse</a:t>
            </a:r>
            <a:r>
              <a:rPr lang="fr-FR" b="0" i="0" dirty="0">
                <a:solidFill>
                  <a:srgbClr val="5C666F"/>
                </a:solidFill>
                <a:effectLst/>
                <a:latin typeface="Helvetica Neue"/>
              </a:rPr>
              <a:t>. Il décrit différents chemins possibles que pourrait prendre notre société. Chaque scénario fixe des valeurs pour des paramètres importants – comme les émissions de gaz à effet de serre – en fonction de divers choix économiques, technologiques, politiques et sociaux.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88CFD8-6B23-4134-95F8-908AFEDBE1C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320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8407-C498-4DEF-99AF-565AA2BEC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1B0E3-3308-44E7-863B-DF1978032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594BB-1E4F-48C7-927B-5BEE7F6D1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BA49C-F97D-49F2-841B-881BAE9F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A4A70-8E82-47A8-9521-8B3D6A7D7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3344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2D58-2719-40E1-AE89-A81EF88B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F348-AFB7-4A32-823A-A3063FC9D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37196-888D-4C8D-B7B8-F6F73084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E47B0-8A9F-485A-9344-DF0A38D4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F5F5B-1BA0-41AE-9BCA-C8807DDA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59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43383-C343-4F64-8167-55B1E1848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8E0F6-7F70-4797-97D1-E499897FE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D2543-86B3-4E2C-81B1-CFF9F1E6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072BA-5730-482B-97B4-3A77EB825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D3BA0-D5DC-4CD0-99AB-C0A59A513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3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BAD4-2D58-4F9A-B4DA-0BA1711B6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2F4AA-2E8F-4A7E-A7DA-D5452C20E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D001A-ECFF-4C0A-AC58-C10C70CD4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D927A-D6E9-46D4-88E0-6DB7AFA8C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BFE2F-2EE2-4813-8CB6-63D2C251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92E3F8-7229-48FA-B7A1-2CC96308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2158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416E2-9CB3-4ACC-A4FA-DF590EF6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8D87B-F0EB-4467-A5E9-B8EA5D730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88A02-9AFA-4A72-9D05-7764A3522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9FCC4-1075-4D88-9CC8-2BFFE5934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B5421-83FB-4DEE-BCB7-7D5CEF5BA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EDC2A6-0A61-47FE-AA77-8345EAF21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B20E41-D4E8-42AC-A7F9-60AF5DFE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BE9CF-87BE-4B27-B117-0BB068889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26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102D-74B4-44E0-934F-523C2B365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9BA59D-EB8D-4109-BFE6-43E02D69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1C667-97CE-4ACD-8767-BB9D6BD25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CB644C-C8BA-4DB5-8FC3-775BBD01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9081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890362-7860-4452-A04E-5468A55DB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1494A8-5A6E-44E4-8434-719B49C95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29B62-9C25-4056-B7FB-CF6B2E6C6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559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7ECEF-418E-4C76-B35E-0262EC03D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D583-00F4-4557-BAF5-D47DB27C9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E1B9B-BFE1-4630-A80C-3FE228BA3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437C2-A87E-4FD8-AB57-D2FF718C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D443E-89D1-4CCD-92D3-822D2ABE1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044E9-D5C2-4B01-8458-C07F4615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36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125C9-0447-43C5-9677-8091A0F97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A493E-7AE7-4AB2-8DC8-AC3F64433D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FCD2D0-866B-4B70-AF9D-A1F6E8B24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8E0C4-B806-418F-A20E-9977D1C3A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2B8FE-5579-41F2-8A7D-85FE0F6E1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745C0-7CBA-44B8-95F8-811DBF6B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06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6C78-FC6E-4F7B-BF21-7F86DC93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4F103-E0EC-4D34-9D4A-6A007596C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3A5EE-6B95-424E-9CE0-9D7F322AD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0AD59-62B1-46A0-A19D-7A8B1F0A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D9C5B-8303-46F5-B1E7-E74C9E31E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732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8E6F4-8E1D-4080-B5E6-D90CE01F4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63A1F-B48C-47F8-B36D-63F8F70FB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8CFEE-55D0-4925-847F-CDC37D399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A7B3D-D02A-423C-B9C4-DDD1799EC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0E1CE-07BC-4000-9864-C86C8E613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7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A7122-814C-4793-AAFD-B4E4A41DB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8AFE4-A113-4430-B681-A08619105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88FEF-AD6A-4B11-BB93-8A670289D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D5428-FE5D-483E-A8DF-7D0E34A32603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6D948-9386-4303-ABE1-C47FFEB33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20E13-625F-48F5-9998-F2F1F87FE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2AB30-44E6-4360-B1F6-F470C5A8C85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04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gws-access.jasmin.ac.uk/public/tamsat/rfe/data_zipped/v3.1/daily" TargetMode="External"/><Relationship Id="rId3" Type="http://schemas.openxmlformats.org/officeDocument/2006/relationships/hyperlink" Target="https://www.ncei.noaa.gov/access/search/dataset-search" TargetMode="External"/><Relationship Id="rId7" Type="http://schemas.openxmlformats.org/officeDocument/2006/relationships/hyperlink" Target="https://earlywarning.usgs.gov/fews/product/48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tp.cpc.ncep.noaa.gov/fews/fewsdata/africa/rfe2/geotiff" TargetMode="External"/><Relationship Id="rId5" Type="http://schemas.openxmlformats.org/officeDocument/2006/relationships/hyperlink" Target="https://www.ncei.noaa.gov/products/climate-data-records/precipitation-cmorph" TargetMode="External"/><Relationship Id="rId10" Type="http://schemas.openxmlformats.org/officeDocument/2006/relationships/hyperlink" Target="https://www.gloh2o.org/" TargetMode="External"/><Relationship Id="rId4" Type="http://schemas.openxmlformats.org/officeDocument/2006/relationships/hyperlink" Target="https://ftp.cpc.ncep.noaa.gov/precip/CMORPH_V1.0/BLD/0.25deg-DLY_EOD/GLB" TargetMode="External"/><Relationship Id="rId9" Type="http://schemas.openxmlformats.org/officeDocument/2006/relationships/hyperlink" Target="https://drive.google.com/drive/folders/1Kok05OPVESTpyyan7NafR-2WwuSJ4TO9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sl.noaa.gov/data/gridded/data.cfsr.html" TargetMode="External"/><Relationship Id="rId3" Type="http://schemas.openxmlformats.org/officeDocument/2006/relationships/hyperlink" Target="https://cds.climate.copernicus.eu/datasets/reanalysis-era5-single-levels" TargetMode="External"/><Relationship Id="rId7" Type="http://schemas.openxmlformats.org/officeDocument/2006/relationships/hyperlink" Target="https://psl.noaa.gov/data/gridded/data.ncep.reanalysis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ra.kishou.go.jp/JRA-55/index_en.html" TargetMode="External"/><Relationship Id="rId5" Type="http://schemas.openxmlformats.org/officeDocument/2006/relationships/hyperlink" Target="https://gmao.gsfc.nasa.gov/reanalysis/MERRA-2/" TargetMode="External"/><Relationship Id="rId4" Type="http://schemas.openxmlformats.org/officeDocument/2006/relationships/hyperlink" Target="https://cds.climate.copernicus.eu/datasets/reanalysis-era5-land" TargetMode="External"/><Relationship Id="rId9" Type="http://schemas.openxmlformats.org/officeDocument/2006/relationships/hyperlink" Target="https://psl.noaa.gov/data/gridded/data.20thC_ReanV3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ower.larc.nasa.gov/data-access-viewer/" TargetMode="External"/><Relationship Id="rId2" Type="http://schemas.openxmlformats.org/officeDocument/2006/relationships/hyperlink" Target="https://app.climateengine.org/climateEngin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cei.noaa.gov/cdo-web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limatedataguide.ucar.edu/climate-tools/climate-data-processing-software" TargetMode="External"/><Relationship Id="rId2" Type="http://schemas.openxmlformats.org/officeDocument/2006/relationships/hyperlink" Target="https://climatedataguide.ucar.edu/climate-data/reanalysi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ccs.nasa.gov/services/data-collections/land-based-products/nex-gddp-cmip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5DBC-1BE6-45B5-94F2-BEE1FB9ECF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Les sources de données météorologiques et climatiques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618B8-B5B6-4BE2-97D3-24CC86C763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Cyrille A. MIDINGOYI, PhD</a:t>
            </a:r>
          </a:p>
        </p:txBody>
      </p:sp>
    </p:spTree>
    <p:extLst>
      <p:ext uri="{BB962C8B-B14F-4D97-AF65-F5344CB8AC3E}">
        <p14:creationId xmlns:p14="http://schemas.microsoft.com/office/powerpoint/2010/main" val="342894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F2A6-AA37-4F00-9B1B-EA94464A7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10515600" cy="725121"/>
          </a:xfrm>
        </p:spPr>
        <p:txBody>
          <a:bodyPr/>
          <a:lstStyle/>
          <a:p>
            <a:r>
              <a:rPr lang="fr-FR" b="1" dirty="0"/>
              <a:t>Importance des données climatiques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B534B-BAF7-4129-9F5C-9080B2E9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22" y="1090246"/>
            <a:ext cx="8419942" cy="50799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FC7F55-1A2E-48AF-AADD-C6D954C454C8}"/>
              </a:ext>
            </a:extLst>
          </p:cNvPr>
          <p:cNvSpPr txBox="1"/>
          <p:nvPr/>
        </p:nvSpPr>
        <p:spPr>
          <a:xfrm>
            <a:off x="10243127" y="5588000"/>
            <a:ext cx="169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WMO, 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FDAFDA-5A70-4321-956B-AD6EA755C239}"/>
              </a:ext>
            </a:extLst>
          </p:cNvPr>
          <p:cNvSpPr txBox="1"/>
          <p:nvPr/>
        </p:nvSpPr>
        <p:spPr>
          <a:xfrm>
            <a:off x="1865746" y="6308209"/>
            <a:ext cx="820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Pourcentage de NMHS fournissant les services climatiques pour différents secteurs </a:t>
            </a:r>
          </a:p>
        </p:txBody>
      </p:sp>
    </p:spTree>
    <p:extLst>
      <p:ext uri="{BB962C8B-B14F-4D97-AF65-F5344CB8AC3E}">
        <p14:creationId xmlns:p14="http://schemas.microsoft.com/office/powerpoint/2010/main" val="127985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C157-238E-4B5D-A450-BC44DC3FE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4578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rgbClr val="FF0000"/>
                </a:solidFill>
              </a:rPr>
              <a:t>Observations in situ </a:t>
            </a:r>
          </a:p>
          <a:p>
            <a:pPr marL="0" indent="0" algn="ctr">
              <a:buNone/>
            </a:pPr>
            <a:endParaRPr lang="fr-FR" sz="2600" dirty="0">
              <a:solidFill>
                <a:srgbClr val="FF0000"/>
              </a:solidFill>
            </a:endParaRP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Mesures directes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Considérées comme référence 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stations synoptiques, automatiques, postes pluviométriques, …</a:t>
            </a:r>
          </a:p>
          <a:p>
            <a:pPr marL="0" indent="0">
              <a:buNone/>
            </a:pPr>
            <a:r>
              <a:rPr lang="fr-FR" sz="2600" dirty="0"/>
              <a:t> 	</a:t>
            </a:r>
          </a:p>
          <a:p>
            <a:pPr marL="0" indent="0">
              <a:buNone/>
            </a:pPr>
            <a:r>
              <a:rPr lang="fr-FR" sz="2600" b="1" dirty="0"/>
              <a:t>Limitations</a:t>
            </a:r>
          </a:p>
          <a:p>
            <a:r>
              <a:rPr lang="fr-FR" sz="2600" dirty="0"/>
              <a:t>Problème de densité spatiale des réseaux d’observation</a:t>
            </a:r>
          </a:p>
          <a:p>
            <a:r>
              <a:rPr lang="fr-FR" sz="2600" dirty="0"/>
              <a:t>Manque de métadonnées</a:t>
            </a:r>
          </a:p>
          <a:p>
            <a:r>
              <a:rPr lang="fr-FR" sz="2600" dirty="0"/>
              <a:t>Qualité et homogénéisation: Rupture de séries, changements d’instruments, erreurs de parallaxe 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678105-CBF9-4577-B32B-46A16377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10515600" cy="725121"/>
          </a:xfrm>
        </p:spPr>
        <p:txBody>
          <a:bodyPr/>
          <a:lstStyle/>
          <a:p>
            <a:r>
              <a:rPr lang="fr-FR" b="1" dirty="0"/>
              <a:t>Typologies de données (1)</a:t>
            </a:r>
          </a:p>
        </p:txBody>
      </p:sp>
    </p:spTree>
    <p:extLst>
      <p:ext uri="{BB962C8B-B14F-4D97-AF65-F5344CB8AC3E}">
        <p14:creationId xmlns:p14="http://schemas.microsoft.com/office/powerpoint/2010/main" val="3740274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C157-238E-4B5D-A450-BC44DC3FE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8250"/>
            <a:ext cx="12192000" cy="561975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sz="2600" dirty="0">
                <a:solidFill>
                  <a:srgbClr val="FF0000"/>
                </a:solidFill>
              </a:rPr>
              <a:t>Télédétection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Mesures indirectes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Fusion/validation avec/par les données d’observation in situ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Complète les réseaux d’observation in situ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Satellite ou Radar</a:t>
            </a:r>
          </a:p>
          <a:p>
            <a:pPr>
              <a:buFont typeface="Symbol" panose="05050102010706020507" pitchFamily="18" charset="2"/>
              <a:buChar char="Þ"/>
            </a:pPr>
            <a:endParaRPr lang="fr-FR" sz="2600" dirty="0"/>
          </a:p>
          <a:p>
            <a:pPr marL="0" indent="0">
              <a:buNone/>
            </a:pPr>
            <a:r>
              <a:rPr lang="fr-FR" sz="2600" dirty="0"/>
              <a:t>Limitations</a:t>
            </a:r>
          </a:p>
          <a:p>
            <a:r>
              <a:rPr lang="fr-FR" sz="2600" dirty="0"/>
              <a:t>Incertitudes structurelles variant selon le climat, la saison et la surface</a:t>
            </a:r>
          </a:p>
          <a:p>
            <a:r>
              <a:rPr lang="fr-FR" sz="2600" dirty="0"/>
              <a:t>Résolution spatio-temporelle insuffisante pour certains usages</a:t>
            </a:r>
          </a:p>
          <a:p>
            <a:r>
              <a:rPr lang="fr-FR" sz="2600" dirty="0"/>
              <a:t>Biais régionaux persistants là où la densité de réseaux d’observation est plus faible</a:t>
            </a:r>
          </a:p>
          <a:p>
            <a:r>
              <a:rPr lang="fr-FR" sz="2600" dirty="0"/>
              <a:t>Dépendent de la qualité hétérogène des données in situ</a:t>
            </a:r>
          </a:p>
          <a:p>
            <a:r>
              <a:rPr lang="fr-FR" sz="2600" dirty="0"/>
              <a:t>Sous-estimation des convections intenses – Limites physiques de mesure</a:t>
            </a:r>
          </a:p>
          <a:p>
            <a:pPr>
              <a:buFont typeface="Symbol" panose="05050102010706020507" pitchFamily="18" charset="2"/>
              <a:buChar char="Þ"/>
            </a:pPr>
            <a:endParaRPr lang="fr-FR" sz="2600" dirty="0"/>
          </a:p>
          <a:p>
            <a:pPr marL="0" indent="0">
              <a:buNone/>
            </a:pPr>
            <a:endParaRPr lang="fr-FR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678105-CBF9-4577-B32B-46A16377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10515600" cy="725121"/>
          </a:xfrm>
        </p:spPr>
        <p:txBody>
          <a:bodyPr/>
          <a:lstStyle/>
          <a:p>
            <a:r>
              <a:rPr lang="fr-FR" b="1" dirty="0"/>
              <a:t>Typologies de données (2)</a:t>
            </a:r>
          </a:p>
        </p:txBody>
      </p:sp>
    </p:spTree>
    <p:extLst>
      <p:ext uri="{BB962C8B-B14F-4D97-AF65-F5344CB8AC3E}">
        <p14:creationId xmlns:p14="http://schemas.microsoft.com/office/powerpoint/2010/main" val="958591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C157-238E-4B5D-A450-BC44DC3FE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8250"/>
            <a:ext cx="12192000" cy="561975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sz="2600" dirty="0">
                <a:solidFill>
                  <a:srgbClr val="FF0000"/>
                </a:solidFill>
              </a:rPr>
              <a:t>Modèles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Simulation du système climatique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Réanalyses: Assimilation de données avec les réseaux in situ et les données       satellitaires pour produire un enregistrement cohérent du passé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fr-FR" sz="2600" dirty="0"/>
              <a:t>    Projections climatiques: description du climat selon un scénario donné</a:t>
            </a:r>
          </a:p>
          <a:p>
            <a:pPr>
              <a:buFont typeface="Symbol" panose="05050102010706020507" pitchFamily="18" charset="2"/>
              <a:buChar char="Þ"/>
            </a:pPr>
            <a:endParaRPr lang="fr-FR" sz="2600" dirty="0"/>
          </a:p>
          <a:p>
            <a:pPr marL="0" indent="0">
              <a:buNone/>
            </a:pPr>
            <a:r>
              <a:rPr lang="fr-FR" sz="2600" dirty="0"/>
              <a:t>Limitations</a:t>
            </a:r>
          </a:p>
          <a:p>
            <a:r>
              <a:rPr lang="fr-FR" sz="2600" dirty="0"/>
              <a:t>Biais temporels liés à l'évolution du système d'assimilation (Réanalyse)</a:t>
            </a:r>
          </a:p>
          <a:p>
            <a:r>
              <a:rPr lang="fr-FR" sz="2600" dirty="0"/>
              <a:t>Biais dépendants des variables et des régions</a:t>
            </a:r>
          </a:p>
          <a:p>
            <a:r>
              <a:rPr lang="fr-FR" sz="2600" dirty="0"/>
              <a:t>Incertitudes relatives aux objectifs d’étude à réaliser</a:t>
            </a:r>
          </a:p>
          <a:p>
            <a:r>
              <a:rPr lang="fr-FR" sz="2600" dirty="0"/>
              <a:t>Incertitudes de validation</a:t>
            </a:r>
          </a:p>
          <a:p>
            <a:r>
              <a:rPr lang="fr-FR" sz="2600" dirty="0"/>
              <a:t>Résolution spatiale encore trop grossière pour le local</a:t>
            </a:r>
          </a:p>
          <a:p>
            <a:endParaRPr lang="fr-FR" sz="2600" dirty="0"/>
          </a:p>
          <a:p>
            <a:endParaRPr lang="fr-FR" sz="2600" dirty="0"/>
          </a:p>
          <a:p>
            <a:pPr>
              <a:buFont typeface="Symbol" panose="05050102010706020507" pitchFamily="18" charset="2"/>
              <a:buChar char="Þ"/>
            </a:pPr>
            <a:endParaRPr lang="fr-FR" sz="2600" dirty="0"/>
          </a:p>
          <a:p>
            <a:pPr marL="0" indent="0">
              <a:buNone/>
            </a:pPr>
            <a:endParaRPr lang="fr-FR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678105-CBF9-4577-B32B-46A16377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10515600" cy="725121"/>
          </a:xfrm>
        </p:spPr>
        <p:txBody>
          <a:bodyPr/>
          <a:lstStyle/>
          <a:p>
            <a:r>
              <a:rPr lang="fr-FR" b="1" dirty="0"/>
              <a:t>Typologies de données (3)</a:t>
            </a:r>
          </a:p>
        </p:txBody>
      </p:sp>
    </p:spTree>
    <p:extLst>
      <p:ext uri="{BB962C8B-B14F-4D97-AF65-F5344CB8AC3E}">
        <p14:creationId xmlns:p14="http://schemas.microsoft.com/office/powerpoint/2010/main" val="84521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DC77-72B2-4A24-A336-347695913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Typologies de données (4)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3269F-DFE4-4F3B-913D-8FA6F3310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6" y="1825625"/>
            <a:ext cx="12081164" cy="4351338"/>
          </a:xfrm>
        </p:spPr>
        <p:txBody>
          <a:bodyPr/>
          <a:lstStyle/>
          <a:p>
            <a:pPr marL="0" indent="0">
              <a:buNone/>
            </a:pPr>
            <a:r>
              <a:rPr lang="fr-FR" b="0" i="0" dirty="0">
                <a:effectLst/>
              </a:rPr>
              <a:t>Les données satellitaires sont indispensables pour la couverture globale, mais elles ne remplacent pas les observations in situ. La bonne pratique actuelle est une approche hybride: satellite + stations + réanalyse + correction de biais locale, avec propagation explicite des incertitudes.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1764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C157-238E-4B5D-A450-BC44DC3FE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38250"/>
            <a:ext cx="12192000" cy="56197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>
                <a:solidFill>
                  <a:srgbClr val="FF0000"/>
                </a:solidFill>
              </a:rPr>
              <a:t>Observations in situ </a:t>
            </a:r>
          </a:p>
          <a:p>
            <a:pPr marL="0" indent="0">
              <a:buNone/>
            </a:pPr>
            <a:endParaRPr lang="fr-FR" sz="2600" dirty="0"/>
          </a:p>
          <a:p>
            <a:endParaRPr lang="fr-FR" sz="2600" dirty="0"/>
          </a:p>
          <a:p>
            <a:pPr>
              <a:buFont typeface="Symbol" panose="05050102010706020507" pitchFamily="18" charset="2"/>
              <a:buChar char="Þ"/>
            </a:pPr>
            <a:endParaRPr lang="fr-FR" sz="2600" dirty="0"/>
          </a:p>
          <a:p>
            <a:pPr marL="0" indent="0">
              <a:buNone/>
            </a:pPr>
            <a:endParaRPr lang="fr-FR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678105-CBF9-4577-B32B-46A16377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10515600" cy="725121"/>
          </a:xfrm>
        </p:spPr>
        <p:txBody>
          <a:bodyPr/>
          <a:lstStyle/>
          <a:p>
            <a:r>
              <a:rPr lang="fr-FR" b="1" dirty="0"/>
              <a:t>Infrastructures d’accès aux données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3900F500-8C1D-4967-BE8E-1312E6A8D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03470"/>
              </p:ext>
            </p:extLst>
          </p:nvPr>
        </p:nvGraphicFramePr>
        <p:xfrm>
          <a:off x="533400" y="1971675"/>
          <a:ext cx="11220452" cy="301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226">
                  <a:extLst>
                    <a:ext uri="{9D8B030D-6E8A-4147-A177-3AD203B41FA5}">
                      <a16:colId xmlns:a16="http://schemas.microsoft.com/office/drawing/2014/main" val="148523272"/>
                    </a:ext>
                  </a:extLst>
                </a:gridCol>
                <a:gridCol w="5610226">
                  <a:extLst>
                    <a:ext uri="{9D8B030D-6E8A-4147-A177-3AD203B41FA5}">
                      <a16:colId xmlns:a16="http://schemas.microsoft.com/office/drawing/2014/main" val="4112044737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Global Historical Climatology Network - Daily (GHCN-Daily/</a:t>
                      </a:r>
                      <a:r>
                        <a:rPr lang="en-US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GHCNd</a:t>
                      </a:r>
                      <a:r>
                        <a:rPr lang="en-US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https://www.ncei.noaa.gov/access/search/dataset-search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777129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Global Surface Summary of the Day</a:t>
                      </a:r>
                      <a:endParaRPr lang="fr-FR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https://www.ncei.noaa.gov/access/search/dataset-search</a:t>
                      </a:r>
                    </a:p>
                    <a:p>
                      <a:endParaRPr lang="fr-F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4117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fr-FR" sz="2800" b="0" dirty="0"/>
                        <a:t>NMHS portails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/>
                        <a:t>Souvent restrictifs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056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72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C157-238E-4B5D-A450-BC44DC3FE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4655" y="1090246"/>
            <a:ext cx="12192000" cy="56197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>
                <a:solidFill>
                  <a:srgbClr val="FF0000"/>
                </a:solidFill>
              </a:rPr>
              <a:t>Télédétection (</a:t>
            </a:r>
            <a:r>
              <a:rPr lang="fr-FR" sz="2400" dirty="0" err="1">
                <a:solidFill>
                  <a:srgbClr val="FF0000"/>
                </a:solidFill>
              </a:rPr>
              <a:t>RainFall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 err="1">
                <a:solidFill>
                  <a:srgbClr val="FF0000"/>
                </a:solidFill>
              </a:rPr>
              <a:t>Estimators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 err="1">
                <a:solidFill>
                  <a:srgbClr val="FF0000"/>
                </a:solidFill>
              </a:rPr>
              <a:t>Products</a:t>
            </a:r>
            <a:r>
              <a:rPr lang="fr-FR" sz="2400" dirty="0">
                <a:solidFill>
                  <a:srgbClr val="FF0000"/>
                </a:solidFill>
              </a:rPr>
              <a:t> RFE)</a:t>
            </a:r>
          </a:p>
          <a:p>
            <a:pPr marL="0" indent="0">
              <a:buNone/>
            </a:pPr>
            <a:endParaRPr lang="fr-FR" sz="2600" dirty="0"/>
          </a:p>
          <a:p>
            <a:endParaRPr lang="fr-FR" sz="2600" dirty="0"/>
          </a:p>
          <a:p>
            <a:pPr>
              <a:buFont typeface="Symbol" panose="05050102010706020507" pitchFamily="18" charset="2"/>
              <a:buChar char="Þ"/>
            </a:pPr>
            <a:endParaRPr lang="fr-FR" sz="2600" dirty="0"/>
          </a:p>
          <a:p>
            <a:pPr marL="0" indent="0">
              <a:buNone/>
            </a:pPr>
            <a:endParaRPr lang="fr-FR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678105-CBF9-4577-B32B-46A16377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10515600" cy="725121"/>
          </a:xfrm>
        </p:spPr>
        <p:txBody>
          <a:bodyPr/>
          <a:lstStyle/>
          <a:p>
            <a:r>
              <a:rPr lang="fr-FR" b="1" dirty="0"/>
              <a:t>Infrastructures d’accès aux données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3900F500-8C1D-4967-BE8E-1312E6A8D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575793"/>
              </p:ext>
            </p:extLst>
          </p:nvPr>
        </p:nvGraphicFramePr>
        <p:xfrm>
          <a:off x="247073" y="1424245"/>
          <a:ext cx="11220452" cy="588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7582">
                  <a:extLst>
                    <a:ext uri="{9D8B030D-6E8A-4147-A177-3AD203B41FA5}">
                      <a16:colId xmlns:a16="http://schemas.microsoft.com/office/drawing/2014/main" val="148523272"/>
                    </a:ext>
                  </a:extLst>
                </a:gridCol>
                <a:gridCol w="6322870">
                  <a:extLst>
                    <a:ext uri="{9D8B030D-6E8A-4147-A177-3AD203B41FA5}">
                      <a16:colId xmlns:a16="http://schemas.microsoft.com/office/drawing/2014/main" val="4112044737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CHIRPS v2 (UCSB) — 1981–présent, 0.05°, </a:t>
                      </a:r>
                      <a:r>
                        <a:rPr lang="fr-FR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daily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https://www.chc.ucsb.edu/data/chirps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777129"/>
                  </a:ext>
                </a:extLst>
              </a:tr>
              <a:tr h="603411">
                <a:tc>
                  <a:txBody>
                    <a:bodyPr/>
                    <a:lstStyle/>
                    <a:p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GPM-IMERG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(NASA) — 2000–présent, 0.1°, 30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https://www.ncei.noaa.gov/access/search/dataset-search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https://gpm.nasa.gov/data/imerg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41173"/>
                  </a:ext>
                </a:extLst>
              </a:tr>
              <a:tr h="482616">
                <a:tc>
                  <a:txBody>
                    <a:bodyPr/>
                    <a:lstStyle/>
                    <a:p>
                      <a:r>
                        <a:rPr lang="fr-FR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PERSIANN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(NOAA) — 1983–présent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https://persiann.eng.uci.edu/CHRSdata/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056125"/>
                  </a:ext>
                </a:extLst>
              </a:tr>
              <a:tr h="11206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CMORPH V1.0BETA daily precipitation data</a:t>
                      </a:r>
                    </a:p>
                    <a:p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https://ftp.cpc.ncep.noaa.gov/precip/CMORPH_V1.0/BLD/0.25deg-DLY_EOD/GLB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https://www.ncei.noaa.gov/products/climate-data-records/precipitation-cmorph</a:t>
                      </a:r>
                      <a:endParaRPr lang="fr-F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905470"/>
                  </a:ext>
                </a:extLst>
              </a:tr>
              <a:tr h="603411"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RFE / FEWS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https://ftp.cpc.ncep.noaa.gov/fews/fewsdata/africa/rfe2/geotiff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https://earlywarning.usgs.gov/fews/product/48/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030194"/>
                  </a:ext>
                </a:extLst>
              </a:tr>
              <a:tr h="778819">
                <a:tc>
                  <a:txBody>
                    <a:bodyPr/>
                    <a:lstStyle/>
                    <a:p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TAMSAT </a:t>
                      </a:r>
                      <a:r>
                        <a:rPr lang="fr-FR" dirty="0"/>
                        <a:t>0.0375 (4km)</a:t>
                      </a:r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http://gws-access.jasmin.ac.uk/public/tamsat/rfe/data_zipped/v3.1/daily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https://research.reading.ac.uk/tamsat/data-access/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195858"/>
                  </a:ext>
                </a:extLst>
              </a:tr>
              <a:tr h="933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MSWEP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https://drive.google.com/drive/folders/1Kok05OPVESTpyyan7NafR-2WwuSJ4TO9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https://www.gloh2o.org/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291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85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C157-238E-4B5D-A450-BC44DC3FE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4655" y="1090246"/>
            <a:ext cx="12192000" cy="56197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>
                <a:solidFill>
                  <a:srgbClr val="FF0000"/>
                </a:solidFill>
              </a:rPr>
              <a:t>Télédétection (</a:t>
            </a:r>
            <a:r>
              <a:rPr lang="fr-FR" sz="2400" dirty="0" err="1">
                <a:solidFill>
                  <a:srgbClr val="FF0000"/>
                </a:solidFill>
              </a:rPr>
              <a:t>RainFall</a:t>
            </a:r>
            <a:r>
              <a:rPr lang="fr-FR" sz="2400" dirty="0">
                <a:solidFill>
                  <a:srgbClr val="FF0000"/>
                </a:solidFill>
              </a:rPr>
              <a:t> Estimation </a:t>
            </a:r>
            <a:r>
              <a:rPr lang="fr-FR" sz="2400" dirty="0" err="1">
                <a:solidFill>
                  <a:srgbClr val="FF0000"/>
                </a:solidFill>
              </a:rPr>
              <a:t>Products</a:t>
            </a:r>
            <a:r>
              <a:rPr lang="fr-FR" sz="2400" dirty="0">
                <a:solidFill>
                  <a:srgbClr val="FF0000"/>
                </a:solidFill>
              </a:rPr>
              <a:t> RFE)</a:t>
            </a:r>
          </a:p>
          <a:p>
            <a:pPr marL="0" indent="0">
              <a:buNone/>
            </a:pPr>
            <a:endParaRPr lang="fr-FR" sz="2600" dirty="0"/>
          </a:p>
          <a:p>
            <a:endParaRPr lang="fr-FR" sz="2600" dirty="0"/>
          </a:p>
          <a:p>
            <a:pPr>
              <a:buFont typeface="Symbol" panose="05050102010706020507" pitchFamily="18" charset="2"/>
              <a:buChar char="Þ"/>
            </a:pPr>
            <a:endParaRPr lang="fr-FR" sz="2600" dirty="0"/>
          </a:p>
          <a:p>
            <a:pPr marL="0" indent="0">
              <a:buNone/>
            </a:pPr>
            <a:endParaRPr lang="fr-FR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678105-CBF9-4577-B32B-46A16377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10515600" cy="725121"/>
          </a:xfrm>
        </p:spPr>
        <p:txBody>
          <a:bodyPr/>
          <a:lstStyle/>
          <a:p>
            <a:r>
              <a:rPr lang="fr-FR" b="1" dirty="0"/>
              <a:t>Infrastructures d’accès aux données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3900F500-8C1D-4967-BE8E-1312E6A8D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380958"/>
              </p:ext>
            </p:extLst>
          </p:nvPr>
        </p:nvGraphicFramePr>
        <p:xfrm>
          <a:off x="166255" y="1424245"/>
          <a:ext cx="11301270" cy="5162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8400">
                  <a:extLst>
                    <a:ext uri="{9D8B030D-6E8A-4147-A177-3AD203B41FA5}">
                      <a16:colId xmlns:a16="http://schemas.microsoft.com/office/drawing/2014/main" val="148523272"/>
                    </a:ext>
                  </a:extLst>
                </a:gridCol>
                <a:gridCol w="6322870">
                  <a:extLst>
                    <a:ext uri="{9D8B030D-6E8A-4147-A177-3AD203B41FA5}">
                      <a16:colId xmlns:a16="http://schemas.microsoft.com/office/drawing/2014/main" val="4112044737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NOAA  ARC2 </a:t>
                      </a: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 </a:t>
                      </a:r>
                      <a:r>
                        <a:rPr lang="fr-FR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Africa</a:t>
                      </a:r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at 0.1° spatial </a:t>
                      </a:r>
                      <a:r>
                        <a:rPr lang="fr-FR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resolution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https://ftp.cpc.ncep.noaa.gov/fews/fewsdata/africa/arc2/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777129"/>
                  </a:ext>
                </a:extLst>
              </a:tr>
              <a:tr h="603411">
                <a:tc>
                  <a:txBody>
                    <a:bodyPr/>
                    <a:lstStyle/>
                    <a:p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41173"/>
                  </a:ext>
                </a:extLst>
              </a:tr>
              <a:tr h="482616">
                <a:tc>
                  <a:txBody>
                    <a:bodyPr/>
                    <a:lstStyle/>
                    <a:p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056125"/>
                  </a:ext>
                </a:extLst>
              </a:tr>
              <a:tr h="1120621">
                <a:tc>
                  <a:txBody>
                    <a:bodyPr/>
                    <a:lstStyle/>
                    <a:p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905470"/>
                  </a:ext>
                </a:extLst>
              </a:tr>
              <a:tr h="603411">
                <a:tc>
                  <a:txBody>
                    <a:bodyPr/>
                    <a:lstStyle/>
                    <a:p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030194"/>
                  </a:ext>
                </a:extLst>
              </a:tr>
              <a:tr h="778819">
                <a:tc>
                  <a:txBody>
                    <a:bodyPr/>
                    <a:lstStyle/>
                    <a:p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195858"/>
                  </a:ext>
                </a:extLst>
              </a:tr>
              <a:tr h="933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291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626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C157-238E-4B5D-A450-BC44DC3FE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4655" y="1090246"/>
            <a:ext cx="12192000" cy="56197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>
                <a:solidFill>
                  <a:srgbClr val="FF0000"/>
                </a:solidFill>
              </a:rPr>
              <a:t>Modèles Réanalyse – Projections climatiques</a:t>
            </a:r>
          </a:p>
          <a:p>
            <a:pPr marL="0" indent="0">
              <a:buNone/>
            </a:pPr>
            <a:endParaRPr lang="fr-FR" sz="2600" dirty="0"/>
          </a:p>
          <a:p>
            <a:endParaRPr lang="fr-FR" sz="2600" dirty="0"/>
          </a:p>
          <a:p>
            <a:pPr>
              <a:buFont typeface="Symbol" panose="05050102010706020507" pitchFamily="18" charset="2"/>
              <a:buChar char="Þ"/>
            </a:pPr>
            <a:endParaRPr lang="fr-FR" sz="2600" dirty="0"/>
          </a:p>
          <a:p>
            <a:pPr marL="0" indent="0">
              <a:buNone/>
            </a:pPr>
            <a:endParaRPr lang="fr-FR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678105-CBF9-4577-B32B-46A16377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5125"/>
            <a:ext cx="10515600" cy="725121"/>
          </a:xfrm>
        </p:spPr>
        <p:txBody>
          <a:bodyPr/>
          <a:lstStyle/>
          <a:p>
            <a:r>
              <a:rPr lang="fr-FR" b="1" dirty="0"/>
              <a:t>Infrastructures d’accès aux données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3900F500-8C1D-4967-BE8E-1312E6A8D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700152"/>
              </p:ext>
            </p:extLst>
          </p:nvPr>
        </p:nvGraphicFramePr>
        <p:xfrm>
          <a:off x="212139" y="1646930"/>
          <a:ext cx="1131020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494">
                  <a:extLst>
                    <a:ext uri="{9D8B030D-6E8A-4147-A177-3AD203B41FA5}">
                      <a16:colId xmlns:a16="http://schemas.microsoft.com/office/drawing/2014/main" val="148523272"/>
                    </a:ext>
                  </a:extLst>
                </a:gridCol>
                <a:gridCol w="6417715">
                  <a:extLst>
                    <a:ext uri="{9D8B030D-6E8A-4147-A177-3AD203B41FA5}">
                      <a16:colId xmlns:a16="http://schemas.microsoft.com/office/drawing/2014/main" val="4112044737"/>
                    </a:ext>
                  </a:extLst>
                </a:gridCol>
              </a:tblGrid>
              <a:tr h="560581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ERA5</a:t>
                      </a:r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 — ECMWF /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Copernicus</a:t>
                      </a:r>
                      <a:endParaRPr lang="fr-FR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https://cds.climate.copernicus.eu/datasets/reanalysis-era5-single-levels</a:t>
                      </a:r>
                      <a:endParaRPr lang="fr-F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41173"/>
                  </a:ext>
                </a:extLst>
              </a:tr>
              <a:tr h="347540">
                <a:tc>
                  <a:txBody>
                    <a:bodyPr/>
                    <a:lstStyle/>
                    <a:p>
                      <a:r>
                        <a:rPr lang="it-IT" b="1" dirty="0"/>
                        <a:t>ERA5-Land</a:t>
                      </a:r>
                      <a:r>
                        <a:rPr lang="it-IT" dirty="0"/>
                        <a:t> — ECMWF / Copernicus</a:t>
                      </a:r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hlinkClick r:id="rId4"/>
                        </a:rPr>
                        <a:t>https://cds.climate.copernicus.eu/datasets/reanalysis-era5-land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056125"/>
                  </a:ext>
                </a:extLst>
              </a:tr>
              <a:tr h="374983">
                <a:tc>
                  <a:txBody>
                    <a:bodyPr/>
                    <a:lstStyle/>
                    <a:p>
                      <a:r>
                        <a:rPr lang="fr-FR" b="1" dirty="0"/>
                        <a:t>MERRA-2</a:t>
                      </a:r>
                      <a:r>
                        <a:rPr lang="fr-FR" dirty="0"/>
                        <a:t> — NASA GMAO</a:t>
                      </a:r>
                    </a:p>
                    <a:p>
                      <a:r>
                        <a:rPr lang="en-US" dirty="0"/>
                        <a:t>Modern-Era Retrospective Analysis for Research and Applications, Version 2</a:t>
                      </a:r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https://gmao.gsfc.nasa.gov/reanalysis/MERRA-2/</a:t>
                      </a:r>
                      <a:endParaRPr lang="fr-F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905470"/>
                  </a:ext>
                </a:extLst>
              </a:tr>
              <a:tr h="560581">
                <a:tc>
                  <a:txBody>
                    <a:bodyPr/>
                    <a:lstStyle/>
                    <a:p>
                      <a:r>
                        <a:rPr lang="fr-FR" b="1" dirty="0"/>
                        <a:t>JRA-55</a:t>
                      </a:r>
                      <a:r>
                        <a:rPr lang="fr-FR" dirty="0"/>
                        <a:t> — Japan </a:t>
                      </a:r>
                      <a:r>
                        <a:rPr lang="fr-FR" dirty="0" err="1"/>
                        <a:t>Meteorological</a:t>
                      </a:r>
                      <a:r>
                        <a:rPr lang="fr-FR" dirty="0"/>
                        <a:t> Agency</a:t>
                      </a:r>
                      <a:br>
                        <a:rPr lang="fr-FR" dirty="0"/>
                      </a:br>
                      <a:r>
                        <a:rPr lang="fr-FR" dirty="0" err="1"/>
                        <a:t>Japanese</a:t>
                      </a:r>
                      <a:r>
                        <a:rPr lang="fr-FR" dirty="0"/>
                        <a:t> 55-year </a:t>
                      </a:r>
                      <a:r>
                        <a:rPr lang="fr-FR" dirty="0" err="1"/>
                        <a:t>Reanalysis</a:t>
                      </a:r>
                      <a:r>
                        <a:rPr lang="fr-FR" dirty="0"/>
                        <a:t>)</a:t>
                      </a:r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hlinkClick r:id="rId6"/>
                        </a:rPr>
                        <a:t>https://jra.kishou.go.jp/JRA-55/index_en.html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030194"/>
                  </a:ext>
                </a:extLst>
              </a:tr>
              <a:tr h="353311">
                <a:tc>
                  <a:txBody>
                    <a:bodyPr/>
                    <a:lstStyle/>
                    <a:p>
                      <a:r>
                        <a:rPr lang="fr-FR" b="1" dirty="0"/>
                        <a:t>NCEP/NCAR </a:t>
                      </a:r>
                      <a:r>
                        <a:rPr lang="fr-FR" b="1" dirty="0" err="1"/>
                        <a:t>Reanalysis</a:t>
                      </a:r>
                      <a:r>
                        <a:rPr lang="fr-FR" b="1" dirty="0"/>
                        <a:t> 1</a:t>
                      </a:r>
                      <a:r>
                        <a:rPr lang="fr-FR" dirty="0"/>
                        <a:t> — NOAA PSL</a:t>
                      </a:r>
                      <a:endParaRPr lang="fr-FR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https://psl.noaa.gov/data/gridded/data.ncep.reanalysis.html</a:t>
                      </a:r>
                      <a:endParaRPr lang="fr-F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195858"/>
                  </a:ext>
                </a:extLst>
              </a:tr>
              <a:tr h="5054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CFSR / CFSv2 — NOAA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(</a:t>
                      </a:r>
                      <a:r>
                        <a:rPr lang="fr-FR" dirty="0" err="1"/>
                        <a:t>Climate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Forecast</a:t>
                      </a:r>
                      <a:r>
                        <a:rPr lang="fr-FR" dirty="0"/>
                        <a:t> System </a:t>
                      </a:r>
                      <a:r>
                        <a:rPr lang="fr-FR" dirty="0" err="1"/>
                        <a:t>Reanalysis</a:t>
                      </a:r>
                      <a:r>
                        <a:rPr lang="fr-FR" dirty="0"/>
                        <a:t>)</a:t>
                      </a:r>
                      <a:endParaRPr lang="fr-FR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https://psl.noaa.gov/data/gridded/data.cfsr.html</a:t>
                      </a:r>
                      <a:endParaRPr lang="fr-FR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291123"/>
                  </a:ext>
                </a:extLst>
              </a:tr>
              <a:tr h="6720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20CRv3</a:t>
                      </a:r>
                      <a:r>
                        <a:rPr lang="fr-FR" dirty="0"/>
                        <a:t> — NOAA / CIRES</a:t>
                      </a:r>
                      <a:br>
                        <a:rPr lang="fr-FR" dirty="0"/>
                      </a:br>
                      <a:r>
                        <a:rPr lang="fr-FR" dirty="0"/>
                        <a:t>(20th Century </a:t>
                      </a:r>
                      <a:r>
                        <a:rPr lang="fr-FR" dirty="0" err="1"/>
                        <a:t>Reanalysis</a:t>
                      </a:r>
                      <a:r>
                        <a:rPr lang="fr-FR" dirty="0"/>
                        <a:t>, utile pour longues périodes historiques)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hlinkClick r:id="rId9"/>
                        </a:rPr>
                        <a:t>https://psl.noaa.gov/data/gridded/data.20thC_ReanV3.html</a:t>
                      </a:r>
                      <a:endParaRPr lang="fr-F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23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908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774A-C070-438A-B573-12C953B2BADF}"/>
              </a:ext>
            </a:extLst>
          </p:cNvPr>
          <p:cNvSpPr txBox="1">
            <a:spLocks/>
          </p:cNvSpPr>
          <p:nvPr/>
        </p:nvSpPr>
        <p:spPr>
          <a:xfrm>
            <a:off x="1239520" y="365125"/>
            <a:ext cx="10271760" cy="72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Contrôle de qualité des données climatiques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19AC4-1E92-456B-89D6-90A758326188}"/>
              </a:ext>
            </a:extLst>
          </p:cNvPr>
          <p:cNvSpPr txBox="1"/>
          <p:nvPr/>
        </p:nvSpPr>
        <p:spPr>
          <a:xfrm>
            <a:off x="583602" y="1708680"/>
            <a:ext cx="11608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Important de définir et  d’</a:t>
            </a:r>
            <a:r>
              <a:rPr lang="fr-FR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implementer</a:t>
            </a:r>
            <a:r>
              <a:rPr lang="fr-F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une approche de contrôle de qualité systématique et consistante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27A788-B5EB-4061-86DB-45EE0AAEE1FF}"/>
              </a:ext>
            </a:extLst>
          </p:cNvPr>
          <p:cNvSpPr txBox="1"/>
          <p:nvPr/>
        </p:nvSpPr>
        <p:spPr>
          <a:xfrm>
            <a:off x="583602" y="2591893"/>
            <a:ext cx="10315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Open Sans" panose="020B0606030504020204" pitchFamily="34" charset="0"/>
              </a:rPr>
              <a:t>Besoin</a:t>
            </a: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 d’un </a:t>
            </a:r>
            <a:r>
              <a:rPr lang="en-US" dirty="0" err="1">
                <a:solidFill>
                  <a:srgbClr val="000000"/>
                </a:solidFill>
                <a:latin typeface="Open Sans" panose="020B0606030504020204" pitchFamily="34" charset="0"/>
              </a:rPr>
              <a:t>système</a:t>
            </a: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 de gestion de </a:t>
            </a:r>
            <a:r>
              <a:rPr lang="en-US" dirty="0" err="1">
                <a:solidFill>
                  <a:srgbClr val="000000"/>
                </a:solidFill>
                <a:latin typeface="Open Sans" panose="020B0606030504020204" pitchFamily="34" charset="0"/>
              </a:rPr>
              <a:t>données</a:t>
            </a: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Open Sans" panose="020B0606030504020204" pitchFamily="34" charset="0"/>
              </a:rPr>
              <a:t>qualité</a:t>
            </a:r>
            <a:r>
              <a:rPr lang="en-US" dirty="0">
                <a:solidFill>
                  <a:srgbClr val="000000"/>
                </a:solidFill>
                <a:latin typeface="Open Sans" panose="020B0606030504020204" pitchFamily="34" charset="0"/>
              </a:rPr>
              <a:t>.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DDDAF-14C9-4443-BCAB-9488487F37B2}"/>
              </a:ext>
            </a:extLst>
          </p:cNvPr>
          <p:cNvSpPr txBox="1"/>
          <p:nvPr/>
        </p:nvSpPr>
        <p:spPr>
          <a:xfrm>
            <a:off x="583602" y="3619777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processus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contrôle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qualité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doivent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être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clairement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documentées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9233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27FC-4FA9-484F-862F-A7E412891975}"/>
              </a:ext>
            </a:extLst>
          </p:cNvPr>
          <p:cNvSpPr txBox="1">
            <a:spLocks/>
          </p:cNvSpPr>
          <p:nvPr/>
        </p:nvSpPr>
        <p:spPr>
          <a:xfrm>
            <a:off x="1971040" y="132571"/>
            <a:ext cx="8493760" cy="72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Chaîne de contrôle de qualité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6A74F5-0665-4E7A-97BF-3122018FEA64}"/>
              </a:ext>
            </a:extLst>
          </p:cNvPr>
          <p:cNvSpPr/>
          <p:nvPr/>
        </p:nvSpPr>
        <p:spPr>
          <a:xfrm>
            <a:off x="2479040" y="1037101"/>
            <a:ext cx="3230880" cy="58928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1- Formater les données et Appliquer les tests de qualité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A0F1F4-CFD6-436F-BF54-06CF50444F4E}"/>
              </a:ext>
            </a:extLst>
          </p:cNvPr>
          <p:cNvSpPr/>
          <p:nvPr/>
        </p:nvSpPr>
        <p:spPr>
          <a:xfrm>
            <a:off x="1950720" y="1889805"/>
            <a:ext cx="4277360" cy="58928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2- Vérifier les valeurs suspectes dans la source d’origine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CA0503-3946-43F2-90D1-3EAEE1DB3AA3}"/>
              </a:ext>
            </a:extLst>
          </p:cNvPr>
          <p:cNvSpPr/>
          <p:nvPr/>
        </p:nvSpPr>
        <p:spPr>
          <a:xfrm>
            <a:off x="1950720" y="2679941"/>
            <a:ext cx="4277360" cy="58928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3- Corriger les erreurs de saisie dans une copie des données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1E8043-458E-49CF-97F0-AA5299BF409F}"/>
              </a:ext>
            </a:extLst>
          </p:cNvPr>
          <p:cNvSpPr/>
          <p:nvPr/>
        </p:nvSpPr>
        <p:spPr>
          <a:xfrm>
            <a:off x="1910080" y="3470077"/>
            <a:ext cx="4358640" cy="58928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4- Convertir le nouveau fichier dans le format commun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24DA9EDC-B15A-449D-B45D-E20F31CC009A}"/>
              </a:ext>
            </a:extLst>
          </p:cNvPr>
          <p:cNvSpPr/>
          <p:nvPr/>
        </p:nvSpPr>
        <p:spPr>
          <a:xfrm>
            <a:off x="2321560" y="4226262"/>
            <a:ext cx="3545840" cy="1036320"/>
          </a:xfrm>
          <a:prstGeom prst="diamond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Reste-t-il des valeurs suspectes?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A9D652-C764-4338-ACCC-AE3059615891}"/>
              </a:ext>
            </a:extLst>
          </p:cNvPr>
          <p:cNvSpPr/>
          <p:nvPr/>
        </p:nvSpPr>
        <p:spPr>
          <a:xfrm>
            <a:off x="6797040" y="4338022"/>
            <a:ext cx="4358640" cy="81280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6- Affiner les sorties des tests. Supprimer les faux positifs ou ajouter les valeurs suspectes non détectées par les tests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BBD119-2C1C-4A17-846E-4B44F2BB72E8}"/>
              </a:ext>
            </a:extLst>
          </p:cNvPr>
          <p:cNvSpPr/>
          <p:nvPr/>
        </p:nvSpPr>
        <p:spPr>
          <a:xfrm>
            <a:off x="6807200" y="5648662"/>
            <a:ext cx="4358640" cy="81280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>
                <a:shade val="50000"/>
                <a:alpha val="2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7- Ajouter les indicateurs (flags) aux données formatées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05E1C32-0FAF-46E6-BDE1-971162AFA74A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4089400" y="1626381"/>
            <a:ext cx="5080" cy="26342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6BA96F-31BE-4BDF-A725-F75655457504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089400" y="2479085"/>
            <a:ext cx="0" cy="20085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D07A24-135B-4F26-ACDF-0C081DB6CC12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4089400" y="3269221"/>
            <a:ext cx="0" cy="20085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D91EFCB-A804-4CDA-96CA-5BF3803D017F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4089400" y="4059357"/>
            <a:ext cx="5080" cy="16690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F9A99A-49F6-45C8-A930-38034486DA6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867400" y="4744422"/>
            <a:ext cx="92964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5A79EC-E18C-40BC-B780-7D6D3251184E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8976360" y="5150822"/>
            <a:ext cx="10160" cy="49784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60EC6409-E9A7-4A9D-A485-664B938D21C1}"/>
              </a:ext>
            </a:extLst>
          </p:cNvPr>
          <p:cNvCxnSpPr>
            <a:stCxn id="7" idx="1"/>
            <a:endCxn id="3" idx="1"/>
          </p:cNvCxnSpPr>
          <p:nvPr/>
        </p:nvCxnSpPr>
        <p:spPr>
          <a:xfrm rot="10800000" flipH="1">
            <a:off x="2321560" y="1331742"/>
            <a:ext cx="157480" cy="3412681"/>
          </a:xfrm>
          <a:prstGeom prst="bentConnector3">
            <a:avLst>
              <a:gd name="adj1" fmla="val -583871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4BD9854-7FF6-489C-99C8-6A421F58FBC9}"/>
              </a:ext>
            </a:extLst>
          </p:cNvPr>
          <p:cNvSpPr txBox="1"/>
          <p:nvPr/>
        </p:nvSpPr>
        <p:spPr>
          <a:xfrm>
            <a:off x="5847080" y="4419302"/>
            <a:ext cx="736600" cy="36933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highlight>
                  <a:srgbClr val="00FF00"/>
                </a:highlight>
              </a:rPr>
              <a:t>Non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488C1B-2E7D-420A-A460-8AC4226403FC}"/>
              </a:ext>
            </a:extLst>
          </p:cNvPr>
          <p:cNvSpPr txBox="1"/>
          <p:nvPr/>
        </p:nvSpPr>
        <p:spPr>
          <a:xfrm>
            <a:off x="1341120" y="4419302"/>
            <a:ext cx="73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highlight>
                  <a:srgbClr val="FF0000"/>
                </a:highlight>
              </a:rPr>
              <a:t>Oui</a:t>
            </a:r>
          </a:p>
        </p:txBody>
      </p:sp>
    </p:spTree>
    <p:extLst>
      <p:ext uri="{BB962C8B-B14F-4D97-AF65-F5344CB8AC3E}">
        <p14:creationId xmlns:p14="http://schemas.microsoft.com/office/powerpoint/2010/main" val="4169362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BC2C-92BD-4572-B7BF-1FE11A8160AC}"/>
              </a:ext>
            </a:extLst>
          </p:cNvPr>
          <p:cNvSpPr txBox="1">
            <a:spLocks/>
          </p:cNvSpPr>
          <p:nvPr/>
        </p:nvSpPr>
        <p:spPr>
          <a:xfrm>
            <a:off x="1971040" y="132571"/>
            <a:ext cx="8493760" cy="72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Les tests standards</a:t>
            </a:r>
          </a:p>
          <a:p>
            <a:r>
              <a:rPr lang="fr-FR" b="1" dirty="0"/>
              <a:t>1. Tests d’erreurs grossières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27477-0D19-495C-B0B3-2D464D8DA2B1}"/>
              </a:ext>
            </a:extLst>
          </p:cNvPr>
          <p:cNvSpPr txBox="1"/>
          <p:nvPr/>
        </p:nvSpPr>
        <p:spPr>
          <a:xfrm>
            <a:off x="294640" y="1778000"/>
            <a:ext cx="116941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dirty="0">
                <a:latin typeface="Arial Unicode MS"/>
              </a:rPr>
              <a:t>1.1.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Dates dupliquées / Instants dupliqués (duplicate_dates/duplicate_times)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Description: Détecte les dates/instants qui apparaissent plus d’une fois dans une série journalière/sous-journalière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Variables: Toutes les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Sorties: Sous forme de texte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85F9D0-435D-41D2-BDA5-AA08A9713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17" y="4358641"/>
            <a:ext cx="8238569" cy="111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10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BC2C-92BD-4572-B7BF-1FE11A8160AC}"/>
              </a:ext>
            </a:extLst>
          </p:cNvPr>
          <p:cNvSpPr txBox="1">
            <a:spLocks/>
          </p:cNvSpPr>
          <p:nvPr/>
        </p:nvSpPr>
        <p:spPr>
          <a:xfrm>
            <a:off x="1971040" y="132571"/>
            <a:ext cx="8493760" cy="72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Les tests standards</a:t>
            </a:r>
          </a:p>
          <a:p>
            <a:r>
              <a:rPr lang="fr-FR" b="1" dirty="0"/>
              <a:t>1. Tests d’erreurs grossières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27477-0D19-495C-B0B3-2D464D8DA2B1}"/>
              </a:ext>
            </a:extLst>
          </p:cNvPr>
          <p:cNvSpPr txBox="1"/>
          <p:nvPr/>
        </p:nvSpPr>
        <p:spPr>
          <a:xfrm>
            <a:off x="731520" y="1778000"/>
            <a:ext cx="112572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dirty="0">
                <a:latin typeface="Arial Unicode MS"/>
              </a:rPr>
              <a:t>1.2.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Répétitions journalières/sous-journalières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daily_repetition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subdaily_repetition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Description: Détecte les valeurs consécutives égales dans une série journalière/semi-journalière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Variables: Toutes les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Sorties: Sous forme de texte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29849-01F9-4554-96DA-ACA13809C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159" y="4143980"/>
            <a:ext cx="7732001" cy="105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81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BC2C-92BD-4572-B7BF-1FE11A8160AC}"/>
              </a:ext>
            </a:extLst>
          </p:cNvPr>
          <p:cNvSpPr txBox="1">
            <a:spLocks/>
          </p:cNvSpPr>
          <p:nvPr/>
        </p:nvSpPr>
        <p:spPr>
          <a:xfrm>
            <a:off x="1971040" y="132571"/>
            <a:ext cx="8493760" cy="72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Les tests standards</a:t>
            </a:r>
          </a:p>
          <a:p>
            <a:r>
              <a:rPr lang="fr-FR" b="1" dirty="0"/>
              <a:t>1. Tests d’erreurs grossières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27477-0D19-495C-B0B3-2D464D8DA2B1}"/>
              </a:ext>
            </a:extLst>
          </p:cNvPr>
          <p:cNvSpPr txBox="1"/>
          <p:nvPr/>
        </p:nvSpPr>
        <p:spPr>
          <a:xfrm>
            <a:off x="731520" y="1778000"/>
            <a:ext cx="112572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dirty="0">
                <a:latin typeface="Arial Unicode MS"/>
              </a:rPr>
              <a:t>1.3.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Seuil dépassé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daily_out_of_range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subdaily_out_of_range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Description: </a:t>
            </a:r>
            <a:r>
              <a:rPr lang="fr-FR" dirty="0">
                <a:latin typeface="Arial Unicode MS"/>
              </a:rPr>
              <a:t>détecte les valeurs journalières/semi-journalières dépassant un seuil défini par l’utilisateur</a:t>
            </a: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Variables: </a:t>
            </a:r>
            <a:r>
              <a:rPr lang="fr-FR" dirty="0" err="1">
                <a:latin typeface="Arial Unicode MS"/>
              </a:rPr>
              <a:t>Tx</a:t>
            </a:r>
            <a:r>
              <a:rPr lang="fr-FR" dirty="0">
                <a:latin typeface="Arial Unicode MS"/>
              </a:rPr>
              <a:t>, </a:t>
            </a:r>
            <a:r>
              <a:rPr lang="fr-FR" dirty="0" err="1">
                <a:latin typeface="Arial Unicode MS"/>
              </a:rPr>
              <a:t>Tn</a:t>
            </a:r>
            <a:r>
              <a:rPr lang="fr-FR" dirty="0">
                <a:latin typeface="Arial Unicode MS"/>
              </a:rPr>
              <a:t>, </a:t>
            </a:r>
            <a:r>
              <a:rPr lang="fr-FR" dirty="0" err="1">
                <a:latin typeface="Arial Unicode MS"/>
              </a:rPr>
              <a:t>rr</a:t>
            </a:r>
            <a:r>
              <a:rPr lang="fr-FR" dirty="0">
                <a:latin typeface="Arial Unicode MS"/>
              </a:rPr>
              <a:t>, dd, w, sc, </a:t>
            </a:r>
            <a:r>
              <a:rPr lang="fr-FR" dirty="0" err="1">
                <a:latin typeface="Arial Unicode MS"/>
              </a:rPr>
              <a:t>sd</a:t>
            </a: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Sorties: Sous forme de texte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2309BD-B58E-46F2-9B50-F0ED51939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40" y="3851429"/>
            <a:ext cx="9109489" cy="28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6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BC2C-92BD-4572-B7BF-1FE11A8160AC}"/>
              </a:ext>
            </a:extLst>
          </p:cNvPr>
          <p:cNvSpPr txBox="1">
            <a:spLocks/>
          </p:cNvSpPr>
          <p:nvPr/>
        </p:nvSpPr>
        <p:spPr>
          <a:xfrm>
            <a:off x="1971040" y="132571"/>
            <a:ext cx="8493760" cy="72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Les tests standards</a:t>
            </a:r>
          </a:p>
          <a:p>
            <a:r>
              <a:rPr lang="fr-FR" b="1" dirty="0"/>
              <a:t>1. Tests d’erreurs grossières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27477-0D19-495C-B0B3-2D464D8DA2B1}"/>
              </a:ext>
            </a:extLst>
          </p:cNvPr>
          <p:cNvSpPr txBox="1"/>
          <p:nvPr/>
        </p:nvSpPr>
        <p:spPr>
          <a:xfrm>
            <a:off x="685338" y="1445491"/>
            <a:ext cx="1125728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dirty="0">
                <a:latin typeface="Arial Unicode MS"/>
              </a:rPr>
              <a:t>1.4.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Erreurs grossières OMM (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wmo_gross_error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Description: </a:t>
            </a:r>
            <a:r>
              <a:rPr lang="fr-FR" dirty="0">
                <a:latin typeface="Arial Unicode MS"/>
              </a:rPr>
              <a:t>détecte les observations dépassant des limites recommandées par l’Organisation Météorologique Mondiale. Ces limites dépendent de la latitude et de la saison </a:t>
            </a: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Variables: </a:t>
            </a:r>
            <a:r>
              <a:rPr lang="pl-PL" dirty="0"/>
              <a:t>Tx, Tn, ta, w, td, p, mslp </a:t>
            </a: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Sorties: Sous forme de texte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dirty="0">
                <a:latin typeface="Arial Unicode MS"/>
              </a:rPr>
              <a:t>Pour latitude &lt;= 45° et latitude &gt;= -45°: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dirty="0">
                <a:latin typeface="Arial Unicode MS"/>
              </a:rPr>
              <a:t>Hiver HN, Eté HS (Octobre, Novembre, décembre, janvier, Février, Mars): </a:t>
            </a:r>
          </a:p>
          <a:p>
            <a:pPr marL="285750" indent="-285750">
              <a:buFontTx/>
              <a:buChar char="-"/>
            </a:pPr>
            <a:r>
              <a:rPr lang="fr-FR" altLang="fr-FR" dirty="0">
                <a:latin typeface="Arial Unicode MS"/>
              </a:rPr>
              <a:t>Valeurs suspectes: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-40 &lt;= ta &lt; -30 ou 50 &lt; ta &lt;= 55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Arial Unicode MS"/>
              </a:rPr>
              <a:t>Valeurs erronées:   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 &lt; -40 ou ta &gt; 55</a:t>
            </a:r>
          </a:p>
          <a:p>
            <a:endParaRPr lang="fr-FR" dirty="0">
              <a:latin typeface="Arial Unicode M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dirty="0">
                <a:latin typeface="Arial Unicode MS"/>
              </a:rPr>
              <a:t>Eté HN, Hiver HS (Avril, Mai, Juin, Juillet, Août, Septembre)</a:t>
            </a:r>
          </a:p>
          <a:p>
            <a:pPr marL="285750" indent="-285750">
              <a:buFontTx/>
              <a:buChar char="-"/>
            </a:pPr>
            <a:r>
              <a:rPr lang="fr-FR" altLang="fr-FR" dirty="0">
                <a:latin typeface="Arial Unicode MS"/>
              </a:rPr>
              <a:t>Valeurs suspectes: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-30 &lt;= ta &lt; -20 or 50 &lt; ta &lt;= 60</a:t>
            </a:r>
          </a:p>
          <a:p>
            <a:r>
              <a:rPr lang="fr-FR" dirty="0">
                <a:latin typeface="Arial Unicode MS"/>
              </a:rPr>
              <a:t>-   Valeurs erronées:    </a:t>
            </a:r>
            <a:r>
              <a:rPr lang="fr-F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 &lt; -30 or ta &gt; 60</a:t>
            </a:r>
            <a:endParaRPr 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2604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BC2C-92BD-4572-B7BF-1FE11A8160AC}"/>
              </a:ext>
            </a:extLst>
          </p:cNvPr>
          <p:cNvSpPr txBox="1">
            <a:spLocks/>
          </p:cNvSpPr>
          <p:nvPr/>
        </p:nvSpPr>
        <p:spPr>
          <a:xfrm>
            <a:off x="1052945" y="132571"/>
            <a:ext cx="11139055" cy="72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Les tests standards</a:t>
            </a:r>
          </a:p>
          <a:p>
            <a:r>
              <a:rPr lang="fr-FR" b="1" dirty="0"/>
              <a:t>2. Tests de tolérance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27477-0D19-495C-B0B3-2D464D8DA2B1}"/>
              </a:ext>
            </a:extLst>
          </p:cNvPr>
          <p:cNvSpPr txBox="1"/>
          <p:nvPr/>
        </p:nvSpPr>
        <p:spPr>
          <a:xfrm>
            <a:off x="685338" y="1445491"/>
            <a:ext cx="112572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b="1" dirty="0"/>
              <a:t>« </a:t>
            </a:r>
            <a:r>
              <a:rPr lang="fr-FR" b="1" dirty="0" err="1"/>
              <a:t>climatic_outliers</a:t>
            </a:r>
            <a:r>
              <a:rPr lang="fr-FR" b="1" dirty="0"/>
              <a:t> 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b="1" dirty="0"/>
              <a:t>But</a:t>
            </a:r>
            <a:r>
              <a:rPr lang="fr-FR" dirty="0"/>
              <a:t> : détecter des valeurs </a:t>
            </a:r>
            <a:r>
              <a:rPr lang="fr-FR" b="1" dirty="0"/>
              <a:t>anormalement rares</a:t>
            </a:r>
            <a:r>
              <a:rPr lang="fr-FR" dirty="0"/>
              <a:t> ou </a:t>
            </a:r>
            <a:r>
              <a:rPr lang="fr-FR" b="1" dirty="0"/>
              <a:t>très éloignées de la distribution attendue</a:t>
            </a:r>
            <a:r>
              <a:rPr lang="fr-FR" dirty="0"/>
              <a:t>, sans être forcément physiquement impossibles.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</a:t>
            </a:r>
            <a:r>
              <a:rPr lang="fr-FR" dirty="0" err="1"/>
              <a:t>Tx</a:t>
            </a:r>
            <a:r>
              <a:rPr lang="fr-FR" dirty="0"/>
              <a:t>, </a:t>
            </a:r>
            <a:r>
              <a:rPr lang="fr-FR" dirty="0" err="1"/>
              <a:t>Tn</a:t>
            </a:r>
            <a:r>
              <a:rPr lang="fr-FR" dirty="0"/>
              <a:t>, ta, </a:t>
            </a:r>
            <a:r>
              <a:rPr lang="fr-FR" dirty="0" err="1"/>
              <a:t>rr</a:t>
            </a:r>
            <a:r>
              <a:rPr lang="fr-FR" dirty="0"/>
              <a:t>, sc, </a:t>
            </a:r>
            <a:r>
              <a:rPr lang="fr-FR" dirty="0" err="1"/>
              <a:t>sd</a:t>
            </a:r>
            <a:r>
              <a:rPr lang="fr-FR" dirty="0"/>
              <a:t>, </a:t>
            </a:r>
            <a:r>
              <a:rPr lang="fr-FR" dirty="0" err="1"/>
              <a:t>fs</a:t>
            </a: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Sorties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Sous forme de texte et de figure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Principe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p25 – n*IQR &lt; X &lt; p75 + n*IQR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p25, p75 sont 1</a:t>
            </a:r>
            <a:r>
              <a:rPr kumimoji="0" lang="fr-FR" altLang="fr-FR" sz="1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er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et 3</a:t>
            </a:r>
            <a:r>
              <a:rPr kumimoji="0" lang="fr-FR" altLang="fr-FR" sz="18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ème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quartiles; IQR intervalle interquartile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 dépend de la variable et peut être modifié par l’utilisateur.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7CABF-C975-47D2-BE10-7506D913A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255" y="2311761"/>
            <a:ext cx="5666407" cy="223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62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45C5-6EB6-47A6-B61B-CE23822DAA14}"/>
              </a:ext>
            </a:extLst>
          </p:cNvPr>
          <p:cNvSpPr txBox="1">
            <a:spLocks/>
          </p:cNvSpPr>
          <p:nvPr/>
        </p:nvSpPr>
        <p:spPr>
          <a:xfrm>
            <a:off x="1052945" y="132571"/>
            <a:ext cx="11139055" cy="72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/>
              <a:t>Les tests standards</a:t>
            </a:r>
          </a:p>
          <a:p>
            <a:r>
              <a:rPr lang="fr-FR" b="1" dirty="0"/>
              <a:t>3. Tests de cohérence temporelle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D4E8E7-5B55-4D91-BAF8-EC4B3040284E}"/>
              </a:ext>
            </a:extLst>
          </p:cNvPr>
          <p:cNvSpPr txBox="1"/>
          <p:nvPr/>
        </p:nvSpPr>
        <p:spPr>
          <a:xfrm>
            <a:off x="1052945" y="1551817"/>
            <a:ext cx="9790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67374-4B3D-44CE-B954-812A38ACE478}"/>
              </a:ext>
            </a:extLst>
          </p:cNvPr>
          <p:cNvSpPr txBox="1"/>
          <p:nvPr/>
        </p:nvSpPr>
        <p:spPr>
          <a:xfrm>
            <a:off x="585585" y="1861250"/>
            <a:ext cx="112572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i="1" dirty="0" err="1"/>
              <a:t>temporal_coherence</a:t>
            </a:r>
            <a:endParaRPr lang="fr-FR" b="1" i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dirty="0"/>
          </a:p>
          <a:p>
            <a:r>
              <a:rPr lang="fr-FR" b="1" dirty="0"/>
              <a:t>But</a:t>
            </a:r>
            <a:r>
              <a:rPr lang="fr-FR" dirty="0"/>
              <a:t> : </a:t>
            </a:r>
            <a:r>
              <a:rPr lang="fr-FR" b="1" dirty="0">
                <a:solidFill>
                  <a:srgbClr val="FF0000"/>
                </a:solidFill>
              </a:rPr>
              <a:t>Détecte les larges différences entre les valeurs de 2 jours consécutifs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Variables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</a:t>
            </a:r>
            <a:r>
              <a:rPr lang="pl-PL" dirty="0"/>
              <a:t>Tx, Tn, w, sc, sd, fs</a:t>
            </a: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Sorties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Sous forme de texte</a:t>
            </a: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093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20A2-3A86-4DA6-92A0-2E2A28E79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52FF1-7249-48BE-8688-24C575F6F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hlinkClick r:id="rId2"/>
              </a:rPr>
              <a:t>https://app.climateengine.org/climateEngine</a:t>
            </a:r>
            <a:endParaRPr lang="fr-FR" dirty="0"/>
          </a:p>
          <a:p>
            <a:r>
              <a:rPr lang="fr-FR" dirty="0"/>
              <a:t>Dans google « power access </a:t>
            </a:r>
            <a:r>
              <a:rPr lang="fr-FR" dirty="0" err="1"/>
              <a:t>climate</a:t>
            </a:r>
            <a:r>
              <a:rPr lang="fr-FR" dirty="0"/>
              <a:t> data » </a:t>
            </a:r>
            <a:r>
              <a:rPr lang="fr-FR" dirty="0">
                <a:hlinkClick r:id="rId3"/>
              </a:rPr>
              <a:t>https://power.larc.nasa.gov/data-access-viewer/</a:t>
            </a:r>
            <a:endParaRPr lang="fr-FR" dirty="0"/>
          </a:p>
          <a:p>
            <a:r>
              <a:rPr lang="fr-FR" dirty="0">
                <a:hlinkClick r:id="rId4"/>
              </a:rPr>
              <a:t>https://www.ncei.noaa.gov/cdo-web/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2125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70E81-BA07-4F47-B054-AD4CF9D7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2E919-B34D-4673-9D68-284B142F8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011837"/>
                </a:solidFill>
                <a:effectLst/>
                <a:latin typeface="Poppins" panose="020B0502040204020203" pitchFamily="2" charset="0"/>
              </a:rPr>
              <a:t> </a:t>
            </a:r>
            <a:r>
              <a:rPr lang="fr-FR" b="0" i="0" u="sng" dirty="0" err="1">
                <a:solidFill>
                  <a:srgbClr val="0057C2"/>
                </a:solidFill>
                <a:effectLst/>
                <a:latin typeface="Poppins" panose="020B0502040204020203" pitchFamily="2" charset="0"/>
                <a:hlinkClick r:id="rId2"/>
              </a:rPr>
              <a:t>reanalysis</a:t>
            </a:r>
            <a:r>
              <a:rPr lang="fr-FR" b="0" i="0" u="sng" dirty="0">
                <a:solidFill>
                  <a:srgbClr val="0057C2"/>
                </a:solidFill>
                <a:effectLst/>
                <a:latin typeface="Poppins" panose="020B0502040204020203" pitchFamily="2" charset="0"/>
                <a:hlinkClick r:id="rId2"/>
              </a:rPr>
              <a:t> </a:t>
            </a:r>
            <a:r>
              <a:rPr lang="fr-FR" b="0" i="0" u="sng" dirty="0" err="1">
                <a:solidFill>
                  <a:srgbClr val="0057C2"/>
                </a:solidFill>
                <a:effectLst/>
                <a:latin typeface="Poppins" panose="020B0502040204020203" pitchFamily="2" charset="0"/>
                <a:hlinkClick r:id="rId2"/>
              </a:rPr>
              <a:t>products</a:t>
            </a:r>
            <a:r>
              <a:rPr lang="fr-FR" b="0" i="0" dirty="0">
                <a:solidFill>
                  <a:srgbClr val="011837"/>
                </a:solidFill>
                <a:effectLst/>
                <a:latin typeface="Poppins" panose="020B0502040204020203" pitchFamily="2" charset="0"/>
              </a:rPr>
              <a:t> (ERA-</a:t>
            </a:r>
            <a:r>
              <a:rPr lang="fr-FR" b="0" i="0" dirty="0" err="1">
                <a:solidFill>
                  <a:srgbClr val="011837"/>
                </a:solidFill>
                <a:effectLst/>
                <a:latin typeface="Poppins" panose="020B0502040204020203" pitchFamily="2" charset="0"/>
              </a:rPr>
              <a:t>Interim</a:t>
            </a:r>
            <a:r>
              <a:rPr lang="fr-FR" b="0" i="0" dirty="0">
                <a:solidFill>
                  <a:srgbClr val="011837"/>
                </a:solidFill>
                <a:effectLst/>
                <a:latin typeface="Poppins" panose="020B0502040204020203" pitchFamily="2" charset="0"/>
              </a:rPr>
              <a:t>, MERRA, NCEP-NCAR, JRA, ...)</a:t>
            </a:r>
          </a:p>
          <a:p>
            <a:r>
              <a:rPr lang="fr-FR" dirty="0">
                <a:hlinkClick r:id="rId3"/>
              </a:rPr>
              <a:t>https://climatedataguide.ucar.edu/climate-tools/climate-data-processing-software</a:t>
            </a:r>
            <a:endParaRPr lang="fr-FR" dirty="0"/>
          </a:p>
          <a:p>
            <a:endParaRPr lang="fr-FR" dirty="0"/>
          </a:p>
          <a:p>
            <a:r>
              <a:rPr lang="fr-FR" dirty="0"/>
              <a:t>Modèles climatiques </a:t>
            </a:r>
            <a:r>
              <a:rPr lang="fr-FR" dirty="0">
                <a:hlinkClick r:id="rId4" tooltip="https://www.nccs.nasa.gov/services/data-collections/land-based-products/nex-gddp-cmip6"/>
              </a:rPr>
              <a:t>https://www.nccs.nasa.gov/services/data-collections/land-based-products/nex-gddp-cmip6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431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8931B8A29A2E40A6FE863C1B3F8F47" ma:contentTypeVersion="13" ma:contentTypeDescription="Crée un document." ma:contentTypeScope="" ma:versionID="e559e0323fc21f805af22e195f700488">
  <xsd:schema xmlns:xsd="http://www.w3.org/2001/XMLSchema" xmlns:xs="http://www.w3.org/2001/XMLSchema" xmlns:p="http://schemas.microsoft.com/office/2006/metadata/properties" xmlns:ns2="c0d55887-3f14-4e73-85d2-4a949f48ee0c" xmlns:ns3="8d1aa0a5-228d-46f3-89d8-4919d8917ea8" targetNamespace="http://schemas.microsoft.com/office/2006/metadata/properties" ma:root="true" ma:fieldsID="712b8a6cced75729ff44659d2e9cf4d1" ns2:_="" ns3:_="">
    <xsd:import namespace="c0d55887-3f14-4e73-85d2-4a949f48ee0c"/>
    <xsd:import namespace="8d1aa0a5-228d-46f3-89d8-4919d8917e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55887-3f14-4e73-85d2-4a949f48e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Balises d’images" ma:readOnly="false" ma:fieldId="{5cf76f15-5ced-4ddc-b409-7134ff3c332f}" ma:taxonomyMulti="true" ma:sspId="9e3a0ad9-0a94-465f-8466-410c9be234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1aa0a5-228d-46f3-89d8-4919d8917e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069f78f-54d1-470f-b6b8-b6d01f32d741}" ma:internalName="TaxCatchAll" ma:showField="CatchAllData" ma:web="8d1aa0a5-228d-46f3-89d8-4919d8917e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d1aa0a5-228d-46f3-89d8-4919d8917ea8" xsi:nil="true"/>
    <lcf76f155ced4ddcb4097134ff3c332f xmlns="c0d55887-3f14-4e73-85d2-4a949f48ee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54D5C14-88B6-49F1-BE16-CB81FC1638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d55887-3f14-4e73-85d2-4a949f48ee0c"/>
    <ds:schemaRef ds:uri="8d1aa0a5-228d-46f3-89d8-4919d8917e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BB2F72-BBAC-48AF-B18E-76FB8F2ACA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945709-6600-4AAF-9BF8-AA2BC683EEA2}">
  <ds:schemaRefs>
    <ds:schemaRef ds:uri="http://schemas.microsoft.com/office/2006/metadata/properties"/>
    <ds:schemaRef ds:uri="http://schemas.microsoft.com/office/infopath/2007/PartnerControls"/>
    <ds:schemaRef ds:uri="8d1aa0a5-228d-46f3-89d8-4919d8917ea8"/>
    <ds:schemaRef ds:uri="c0d55887-3f14-4e73-85d2-4a949f48ee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4642</TotalTime>
  <Words>1803</Words>
  <Application>Microsoft Office PowerPoint</Application>
  <PresentationFormat>Widescreen</PresentationFormat>
  <Paragraphs>213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Arial Unicode MS</vt:lpstr>
      <vt:lpstr>Calibri</vt:lpstr>
      <vt:lpstr>Calibri Light</vt:lpstr>
      <vt:lpstr>Consolas</vt:lpstr>
      <vt:lpstr>Helvetica Neue</vt:lpstr>
      <vt:lpstr>Open Sans</vt:lpstr>
      <vt:lpstr>Poppins</vt:lpstr>
      <vt:lpstr>Symbol</vt:lpstr>
      <vt:lpstr>Office Theme</vt:lpstr>
      <vt:lpstr>Les sources de données météorologiques et climatiques</vt:lpstr>
      <vt:lpstr>Importance des données climatiques</vt:lpstr>
      <vt:lpstr>Typologies de données (1)</vt:lpstr>
      <vt:lpstr>Typologies de données (2)</vt:lpstr>
      <vt:lpstr>Typologies de données (3)</vt:lpstr>
      <vt:lpstr>Typologies de données (4)</vt:lpstr>
      <vt:lpstr>Infrastructures d’accès aux données</vt:lpstr>
      <vt:lpstr>Infrastructures d’accès aux données</vt:lpstr>
      <vt:lpstr>Infrastructures d’accès aux données</vt:lpstr>
      <vt:lpstr>Infrastructures d’accès aux données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sources de données météorologiques et climatiques</dc:title>
  <dc:creator>Cyrille Ahmed MIDINGOYI</dc:creator>
  <cp:lastModifiedBy>Cyrille Ahmed MIDINGOYI</cp:lastModifiedBy>
  <cp:revision>51</cp:revision>
  <dcterms:created xsi:type="dcterms:W3CDTF">2026-03-30T07:18:20Z</dcterms:created>
  <dcterms:modified xsi:type="dcterms:W3CDTF">2026-04-05T07:25:28Z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0x010100DF8931B8A29A2E40A6FE863C1B3F8F47</vt:lpwstr>
  </property>
  <property fmtid="{D5CDD505-2E9C-101B-9397-08002B2CF9AE}" pid="3" name="MediaServiceImageTags">
    <vt:lpwstr/>
  </property>
</Properties>
</file>